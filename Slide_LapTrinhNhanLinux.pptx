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</a:rPr>
              <a:t>LẬP TRÌNH NHÂN LINUX</a:t>
            </a:r>
          </a:p>
          <a:p>
            <a:pPr algn="ctr"/>
            <a:r>
              <a:rPr sz="1800">
                <a:solidFill>
                  <a:srgbClr val="555555"/>
                </a:solidFill>
              </a:rPr>
              <a:t>Quản lý hệ thống (Shell) · Tiến trình – File – Socket – Network (C) · Module nhân · ARM Linux mô phỏng (Buildroot &amp; QEMU)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222222"/>
                </a:solidFill>
              </a:rPr>
              <a:t>Môn học: Lập trình nhân Linux</a:t>
            </a:r>
          </a:p>
          <a:p>
            <a:pPr algn="ctr"/>
            <a:r>
              <a:rPr sz="1500">
                <a:solidFill>
                  <a:srgbClr val="222222"/>
                </a:solidFill>
              </a:rPr>
              <a:t>GVHD: ...............    SVTH: ...............    Lớp: ...............</a:t>
            </a:r>
          </a:p>
          <a:p>
            <a:pPr algn="ctr"/>
            <a:r>
              <a:rPr sz="1500">
                <a:solidFill>
                  <a:srgbClr val="222222"/>
                </a:solidFill>
              </a:rPr>
              <a:t>Hà Nội,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Nội dung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Giới thiệu chung về Linux và hệ thống nhúng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Phần 1 — Lập trình Shell quản lý hệ thống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Phần 2 — Lập trình C: tiến trình, file, socket, network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Phần 3 — Xây dựng module nhân Linux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Phần 4 — Hệ thống ARM Linux mô phỏng (Buildroot &amp; QEMU)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Kết luận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Giới thiệu chung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Linux: hệ điều hành mã nguồn mở, miễn phí, bảo mật, tùy biến cao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Cấu trúc 3 lớp: Kernel – Shell – Application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Hiện diện: máy chủ, cloud, di động (Android), thiết bị nhúng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Hệ thống nhúng (Embedded Linux):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Tinh gọn, chiếm ít tài nguyên, độc lập nền tảng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Dùng trong điện thoại, router, IoT, ô tô…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Mục tiêu đề tài: Shell → C (system call) → Kernel → HĐH nhúng ARM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BFD7FF"/>
                </a:solidFill>
              </a:rPr>
              <a:t>PHẦN 1</a:t>
            </a:r>
          </a:p>
          <a:p>
            <a:r>
              <a:rPr sz="3200" b="1">
                <a:solidFill>
                  <a:srgbClr val="FFFFFF"/>
                </a:solidFill>
              </a:rPr>
              <a:t>Lập trình Shell quản lý hệ thống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Phần 1 — Lập trình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Quản lý file: tạo, đổi tên, sao chép, xóa, phân quyền, nén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Lập lịch tác vụ với crontab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Thiết lập thời gian hệ thống &amp; đồng bộ NTP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Cài đặt/gỡ bỏ chương trình tự động (apt, dpkg)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Tổ chức dạng menu; menu.sh gọi 4 script con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325880"/>
            <a:ext cx="4709160" cy="5029200"/>
          </a:xfrm>
          <a:prstGeom prst="rect">
            <a:avLst/>
          </a:prstGeom>
          <a:solidFill>
            <a:srgbClr val="2B2B2B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>
                <a:solidFill>
                  <a:srgbClr val="D4D4D4"/>
                </a:solidFill>
                <a:latin typeface="Consolas"/>
              </a:rPr>
              <a:t># them tac vu crontab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them() {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read -p "Lich: " lich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(crontab -l 2&gt;/dev/null;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echo "$lich") | crontab -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# cai dat goi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cai_dat() {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sudo apt-get install -y "$goi"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Phần 1 — Kết quả thực thi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4 chương trình chạy theo menu, thao tác đúng trên hệ thống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In thông báo [OK] / [Lỗi] sau mỗi thao tác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Cần quyền sudo cho đổi giờ và cài/gỡ gói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920240"/>
            <a:ext cx="4709160" cy="38404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995500"/>
                </a:solidFill>
              </a:rPr>
              <a:t>🖼  CHÈN ẢNH DEMO</a:t>
            </a:r>
          </a:p>
          <a:p>
            <a:pPr algn="ctr"/>
            <a:r>
              <a:rPr sz="1200" i="1">
                <a:solidFill>
                  <a:srgbClr val="555555"/>
                </a:solidFill>
              </a:rPr>
              <a:t>Chụp terminal chạy menu.sh và một thao tác (vd: quản lý file hoặc crontab)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BFD7FF"/>
                </a:solidFill>
              </a:rPr>
              <a:t>PHẦN 2</a:t>
            </a:r>
          </a:p>
          <a:p>
            <a:r>
              <a:rPr sz="3200" b="1">
                <a:solidFill>
                  <a:srgbClr val="FFFFFF"/>
                </a:solidFill>
              </a:rPr>
              <a:t>Lập trình C: Tiến trình – File – Socket – 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Phần 2 — Quản lý tiến trình &amp;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Quản lý file qua system call: stat, chmod, opendir/readdir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Quản lý tiến trình: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Liệt kê tiến trình (ps)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Tạo tiến trình con: fork() + execl()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Gửi tín hiệu / tiêu diệt: kill(); chờ: waitpid()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325880"/>
            <a:ext cx="4709160" cy="5029200"/>
          </a:xfrm>
          <a:prstGeom prst="rect">
            <a:avLst/>
          </a:prstGeom>
          <a:solidFill>
            <a:srgbClr val="2B2B2B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>
                <a:solidFill>
                  <a:srgbClr val="D4D4D4"/>
                </a:solidFill>
                <a:latin typeface="Consolas"/>
              </a:rPr>
              <a:t>pid_t pid = fork();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if (pid == 0) {        /* con */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execl("/bin/sh","sh",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   "-c", lenh, NULL);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} else {               /* cha */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int st;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waitpid(pid, &amp;st, 0);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Phần 2 — Socket &amp;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Network: liệt kê giao diện &amp; IP bằng getifaddrs()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Socket TCP — mô hình Client/Server: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Server: socket → bind → listen → accept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Client: socket → connect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Trao đổi tin nhắn 2 chiều; gõ "bye" để kết thúc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Biên dịch bằng Makefile (make / make clean)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325880"/>
            <a:ext cx="4709160" cy="5029200"/>
          </a:xfrm>
          <a:prstGeom prst="rect">
            <a:avLst/>
          </a:prstGeom>
          <a:solidFill>
            <a:srgbClr val="2B2B2B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>
                <a:solidFill>
                  <a:srgbClr val="D4D4D4"/>
                </a:solidFill>
                <a:latin typeface="Consolas"/>
              </a:rPr>
              <a:t>/* server */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bind(fd,&amp;addr,len);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listen(fd, 3);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accept(fd, ...);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/* client */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connect(s,&amp;serv,len);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Phần 2 — Kết quả thực thi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5 chương trình C biên dịch &amp; chạy thành công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Demo socket: server và client nhắn tin qua lại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920240"/>
            <a:ext cx="4709160" cy="38404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995500"/>
                </a:solidFill>
              </a:rPr>
              <a:t>🖼  CHÈN ẢNH DEMO</a:t>
            </a:r>
          </a:p>
          <a:p>
            <a:pPr algn="ctr"/>
            <a:r>
              <a:rPr sz="1200" i="1">
                <a:solidFill>
                  <a:srgbClr val="555555"/>
                </a:solidFill>
              </a:rPr>
              <a:t>Chụp 2 cửa sổ terminal: ./server và ./client đang nhắn tin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BFD7FF"/>
                </a:solidFill>
              </a:rPr>
              <a:t>PHẦN 3</a:t>
            </a:r>
          </a:p>
          <a:p>
            <a:r>
              <a:rPr sz="3200" b="1">
                <a:solidFill>
                  <a:srgbClr val="FFFFFF"/>
                </a:solidFill>
              </a:rPr>
              <a:t>Xây dựng Module nhân Linux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Phần 3 — Module nhân Linux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Module nhân (LKM): nạp/gỡ khi hệ thống đang chạy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Vòng đời: module_init (__init) ↔ module_exit (__exit)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Nhận tham số đầu vào: module_param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Ghi log bằng printk → xem bằng dmesg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Demo: tính tổng 1..n và liệt kê số nguyên tố trong kernel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325880"/>
            <a:ext cx="4709160" cy="5029200"/>
          </a:xfrm>
          <a:prstGeom prst="rect">
            <a:avLst/>
          </a:prstGeom>
          <a:solidFill>
            <a:srgbClr val="2B2B2B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>
                <a:solidFill>
                  <a:srgbClr val="D4D4D4"/>
                </a:solidFill>
                <a:latin typeface="Consolas"/>
              </a:rPr>
              <a:t>module_param(n,int,0644);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__init hello_init(void){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printk("n=%d\n", n);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/* tinh toan ... */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return 0;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module_init(hello_init);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module_exit(hello_exit);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Phần 3 — Biên dịch &amp;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make → hello_module.ko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sudo insmod hello_module.ko n=10 ten="Linux"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dmesg | tail  → xem log của module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sudo rmmod hello_module → gỡ module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Log mẫu: Tong 1..10 = 55 | Nguyen to: 2 3 5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920240"/>
            <a:ext cx="4709160" cy="38404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995500"/>
                </a:solidFill>
              </a:rPr>
              <a:t>🖼  CHÈN ẢNH DEMO</a:t>
            </a:r>
          </a:p>
          <a:p>
            <a:pPr algn="ctr"/>
            <a:r>
              <a:rPr sz="1200" i="1">
                <a:solidFill>
                  <a:srgbClr val="555555"/>
                </a:solidFill>
              </a:rPr>
              <a:t>Chụp terminal: insmod + dmesg hiển thị log, và dòng "Tam biet" khi rmmod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BFD7FF"/>
                </a:solidFill>
              </a:rPr>
              <a:t>PHẦN 4</a:t>
            </a:r>
          </a:p>
          <a:p>
            <a:r>
              <a:rPr sz="3200" b="1">
                <a:solidFill>
                  <a:srgbClr val="FFFFFF"/>
                </a:solidFill>
              </a:rPr>
              <a:t>Hệ thống ARM Linux mô phỏng bằng Buildroot &amp; QEMU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Phần 4 (1/7) — Tổng quan &amp; kiến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Mục tiêu: dựng HĐH Linux nhúng cho ARM, chạy hoàn toàn bằng phần mềm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Không cần phần cứng thật → phát triển &amp; kiểm thử nhanh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Kiến trúc đích: ARM 64-bit (ARMv8-A), CPU Cortex-A53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Phần cứng GPIO giả lập: ARM PrimeCell PL061 @ 0x09030000 (8 đường)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Hai công cụ chính: Buildroot (dựng image) + QEMU (giả lập)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920240"/>
            <a:ext cx="4709160" cy="38404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995500"/>
                </a:solidFill>
              </a:rPr>
              <a:t>🖼  CHÈN ẢNH DEMO</a:t>
            </a:r>
          </a:p>
          <a:p>
            <a:pPr algn="ctr"/>
            <a:r>
              <a:rPr sz="1200" i="1">
                <a:solidFill>
                  <a:srgbClr val="555555"/>
                </a:solidFill>
              </a:rPr>
              <a:t>Sơ đồ tổng quan: Host (Buildroot) → image → QEMU chạy ARM Linux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Phần 4 (2/7) — Buildroot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Công cụ tự động hóa xây dựng hệ thống nhúng từ mã nguồn mở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Tự tải mã nguồn, biên dịch chéo (cross-compile), đóng gói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Tính năng: linh hoạt, tối ưu kích thước, tự động hóa, đa nền tảng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Thành phần: Makefile, Config.in, .config (menuconfig)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Đầu ra: Kernel + Root filesystem + Bootloader + phụ trợ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920240"/>
            <a:ext cx="4709160" cy="38404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995500"/>
                </a:solidFill>
              </a:rPr>
              <a:t>🖼  CHÈN ẢNH DEMO</a:t>
            </a:r>
          </a:p>
          <a:p>
            <a:pPr algn="ctr"/>
            <a:r>
              <a:rPr sz="1200" i="1">
                <a:solidFill>
                  <a:srgbClr val="555555"/>
                </a:solidFill>
              </a:rPr>
              <a:t>Ảnh trang chủ/cấu trúc Buildroot hoặc cây thư mục output/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Phần 4 (3/7) — QEMU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Quick Emulator — phần mềm ảo hóa/giả lập mã nguồn mở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Giả lập nhiều kiến trúc CPU: x86, ARM, MIPS, PowerPC…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Hai thành phần: emulator (giả lập phần cứng) + hypervisor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Khởi động: qemu-system-aarch64 -M virt -cpu cortex-a53 -nographic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User-mode networking: máy chủ truy cập qua 10.0.2.2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Thoát QEMU: Ctrl-a rồi x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325880"/>
            <a:ext cx="4709160" cy="5029200"/>
          </a:xfrm>
          <a:prstGeom prst="rect">
            <a:avLst/>
          </a:prstGeom>
          <a:solidFill>
            <a:srgbClr val="2B2B2B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>
                <a:solidFill>
                  <a:srgbClr val="D4D4D4"/>
                </a:solidFill>
                <a:latin typeface="Consolas"/>
              </a:rPr>
              <a:t>cd output/images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./start-qemu.sh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# login: root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# (khong can mat khau)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# thoat: Ctrl-a 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Phần 4 (4/7) — Xây dựng image Linux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B1: Tải Buildroot + cấu hình mặc định cho QEMU ARM64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B2: menuconfig — thêm gói GPIO: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Kernel &gt; Linux Kernel Tools &gt; gpio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Libraries &gt; Hardware handling &gt; libgpiod (+ tools)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Networking applications &gt; openssh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B3: linux-menuconfig — bật driver PL061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B4: make (~30 phút) → B5: ./start-qemu.sh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325880"/>
            <a:ext cx="4709160" cy="5029200"/>
          </a:xfrm>
          <a:prstGeom prst="rect">
            <a:avLst/>
          </a:prstGeom>
          <a:solidFill>
            <a:srgbClr val="2B2B2B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>
                <a:solidFill>
                  <a:srgbClr val="D4D4D4"/>
                </a:solidFill>
                <a:latin typeface="Consolas"/>
              </a:rPr>
              <a:t>make qemu_aarch64_virt\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_defconfig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make menuconfig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make linux-menuconfig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#  GPIO Support &gt;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#  PrimeCell PL061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time make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Phần 4 (5/7) — Ứng dụng &amp; biên dịch chéo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Viết ứng dụng người dùng hello.c trên máy chủ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Biên dịch bằng cross-compiler do Buildroot tạo (aarch64-…-gcc)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Chuyển tệp vào QEMU: ssh/scp hoặc wget qua HTTP (10.0.2.2)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Cấp quyền chmod +x rồi chạy trên máy ARM khách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325880"/>
            <a:ext cx="4709160" cy="5029200"/>
          </a:xfrm>
          <a:prstGeom prst="rect">
            <a:avLst/>
          </a:prstGeom>
          <a:solidFill>
            <a:srgbClr val="2B2B2B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>
                <a:solidFill>
                  <a:srgbClr val="D4D4D4"/>
                </a:solidFill>
                <a:latin typeface="Consolas"/>
              </a:rPr>
              <a:t>aarch64-linux-gcc \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-o hello hello.c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# trong QEMU: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wget http://10.0.2.2:\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   8080/hello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chmod +x hello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./hello   # Hello QEMU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Phần 4 (6/7) — Giao tiếp GPIO (libgpiod)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gpiodetect → gpiochip0 [9030000.pl061] (8 lines)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gpioinfo → 8 chân: unused, input, active-high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blink.c: dùng libgpiod nhấp nháy chân 3, chu kỳ 200ms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pl061-change.c: mmap /dev/mem @0x09030000, giám sát GPIODATA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Kết quả: GPIODATA = 8 ↔ 0 (8 = 2³ của chân số 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920240"/>
            <a:ext cx="4709160" cy="38404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995500"/>
                </a:solidFill>
              </a:rPr>
              <a:t>🖼  CHÈN ẢNH DEMO</a:t>
            </a:r>
          </a:p>
          <a:p>
            <a:pPr algn="ctr"/>
            <a:r>
              <a:rPr sz="1200" i="1">
                <a:solidFill>
                  <a:srgbClr val="555555"/>
                </a:solidFill>
              </a:rPr>
              <a:t>Chụp terminal QEMU: gpiodetect/gpioinfo và log GPIODATA=8/0 luân phiên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Phần 4 (7/7) — Đa luồng &amp; đồng bộ Mutex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Vấn đề: nhiều luồng truy cập 1 chân GPIO → lỗi "Device busy"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gpio.c: 1 luồng ghi (writer) + 1 luồng đọc (reader)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Đồng bộ bằng pthread_mutex → truy cập loại trừ tương hỗ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Liên kết -lgpiod -lpthread khi biên dịch chéo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Kết quả: 10 sự kiện Pin=1/0 xen kẽ, không tranh chấp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→ Chứng minh Mutex phân chia tài nguyên hiệu quả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920240"/>
            <a:ext cx="4709160" cy="38404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995500"/>
                </a:solidFill>
              </a:rPr>
              <a:t>🖼  CHÈN ẢNH DEMO</a:t>
            </a:r>
          </a:p>
          <a:p>
            <a:pPr algn="ctr"/>
            <a:r>
              <a:rPr sz="1200" i="1">
                <a:solidFill>
                  <a:srgbClr val="555555"/>
                </a:solidFill>
              </a:rPr>
              <a:t>Chụp terminal QEMU chạy ./gpio in 10 dòng "Event n: Pin=.. at t=.."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Hoàn thành đủ 4 phần của đề tài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Làm chủ: lập trình shell, C system call, module nhân, HĐH nhúng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Hiểu cơ chế tương tác giữa chương trình và nhân Linux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Phần 4: dựng &amp; chạy ARM Linux trên QEMU, điều khiển GPIO + đa luồng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Hướng phát triển: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Mở rộng module thành driver thiết bị thực tế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Bổ sung giao diện cho các chương trình quản lý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645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CẢM ƠN THẦY/CÔ VÀ CÁC BẠN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